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94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4.png"/><Relationship Id="rId7" Type="http://schemas.openxmlformats.org/officeDocument/2006/relationships/image" Target="../media/image30.jpe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5.png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.pn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5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217" r="-217"/>
          <a:stretch/>
        </p:blipFill>
        <p:spPr>
          <a:xfrm>
            <a:off x="761695" y="0"/>
            <a:ext cx="952805" cy="7589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761695" y="5524805"/>
            <a:ext cx="571500" cy="384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82305" y="1143000"/>
            <a:ext cx="3086100" cy="3086100"/>
          </a:xfrm>
          <a:prstGeom prst="ellipse">
            <a:avLst/>
          </a:prstGeom>
          <a:noFill/>
          <a:ln w="2540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9905695" y="3047695"/>
            <a:ext cx="1143000" cy="1143000"/>
          </a:xfrm>
          <a:prstGeom prst="ellipse">
            <a:avLst/>
          </a:prstGeom>
          <a:solidFill>
            <a:srgbClr val="00336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9144000" y="4572000"/>
            <a:ext cx="190195" cy="190195"/>
          </a:xfrm>
          <a:prstGeom prst="ellipse">
            <a:avLst/>
          </a:prstGeom>
          <a:solidFill>
            <a:srgbClr val="CC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l="-5" r="-5"/>
          <a:stretch/>
        </p:blipFill>
        <p:spPr>
          <a:xfrm>
            <a:off x="9048902" y="2190902"/>
            <a:ext cx="2143354" cy="17145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1695" y="1714500"/>
            <a:ext cx="7791602" cy="293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타겟 PB 의류 브랜드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인상 유지 시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향후 2년 예측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시뮬레이션 보고서 </a:t>
            </a:r>
            <a:endParaRPr lang="en-US" sz="48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4858207"/>
            <a:ext cx="67821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페르소나 시뮬레이션(MiroFish) 활용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5715000"/>
            <a:ext cx="3886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2026년 4월 2일</a:t>
            </a:r>
            <a:endParaRPr lang="en-US" sz="1300" dirty="0"/>
          </a:p>
          <a:p>
            <a:pPr marL="0" indent="0" algn="l">
              <a:buNone/>
            </a:pPr>
            <a:r>
              <a:rPr lang="ko-KR" altLang="en-US" sz="130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수출본부 영업</a:t>
            </a:r>
            <a:r>
              <a:rPr lang="en-US" sz="13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기획팀</a:t>
            </a: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0401300" y="6096305"/>
            <a:ext cx="1410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5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429207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86500" y="3619195"/>
            <a:ext cx="5372100" cy="1524305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286500" y="3619195"/>
            <a:ext cx="38405" cy="1524305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 t="-390" b="-390"/>
          <a:stretch/>
        </p:blipFill>
        <p:spPr>
          <a:xfrm>
            <a:off x="0" y="0"/>
            <a:ext cx="1524305" cy="384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381305"/>
            <a:ext cx="952805" cy="228600"/>
          </a:xfrm>
          <a:prstGeom prst="roundRect">
            <a:avLst>
              <a:gd name="adj" fmla="val 133333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 txBox="1"/>
          <p:nvPr/>
        </p:nvSpPr>
        <p:spPr>
          <a:xfrm>
            <a:off x="533095" y="38130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도입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보고서의 배경과 목적</a:t>
            </a:r>
            <a:endParaRPr lang="en-US" sz="2700" dirty="0"/>
          </a:p>
        </p:txBody>
      </p:sp>
      <p:sp>
        <p:nvSpPr>
          <p:cNvPr id="13" name="Shape 7"/>
          <p:cNvSpPr/>
          <p:nvPr/>
        </p:nvSpPr>
        <p:spPr>
          <a:xfrm>
            <a:off x="571500" y="1809598"/>
            <a:ext cx="38405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724205" y="1809598"/>
            <a:ext cx="5296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(Purpose)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286000"/>
            <a:ext cx="54105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PB 의류 브랜드(Goodfellow &amp; Co, Cat &amp; Jack)가 가격 인상을 유지할 경우, 향후 2년간 시장에 어떤 영향이 있을지 AI 시뮬레이션으로 탐색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71500" y="3619195"/>
            <a:ext cx="38405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724205" y="3619195"/>
            <a:ext cx="5296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(Scope)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" y="4095598"/>
            <a:ext cx="5220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기간: 2026년 – 2028년 (2년)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00100" y="4404665"/>
            <a:ext cx="51819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항목: 가격 탄력성, 수요 변화, 소비자 반응, 경쟁사 대응, 공급망 전략, 잠재 리스크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86500" y="1809598"/>
            <a:ext cx="38405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6439205" y="1809598"/>
            <a:ext cx="5296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도구 (Tool)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286500" y="2286000"/>
            <a:ext cx="54105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MiroFish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집단지능(Swarm Intelligence) 기반 AI 예측 엔진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(GitHub 33K+ Stars, 다중 에이전트 시뮬레이션 기술 활용)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729070" y="3810305"/>
            <a:ext cx="4891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유의사항 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76695" y="4134002"/>
            <a:ext cx="50292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 보고서의 모든 데이터와 시나리오는 AI 시뮬레이션 산출물이며, 현실 시장에서의 검증을 전제로 하지 않습니다.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 수립을 위한 </a:t>
            </a:r>
            <a:r>
              <a:rPr lang="en-US" sz="12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참고용 가설(Hypothesis)</a:t>
            </a: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자료로 활용하시기 바랍니다. 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76695" y="3857854"/>
            <a:ext cx="152705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429207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809598"/>
            <a:ext cx="11106302" cy="952805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1809598"/>
            <a:ext cx="57607" cy="952805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" y="5619902"/>
            <a:ext cx="11048695" cy="571500"/>
          </a:xfrm>
          <a:prstGeom prst="roundRect">
            <a:avLst>
              <a:gd name="adj" fmla="val 42667"/>
            </a:avLst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2286000" cy="384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381305"/>
            <a:ext cx="1143000" cy="228600"/>
          </a:xfrm>
          <a:prstGeom prst="roundRect">
            <a:avLst>
              <a:gd name="adj" fmla="val 133333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 txBox="1"/>
          <p:nvPr/>
        </p:nvSpPr>
        <p:spPr>
          <a:xfrm>
            <a:off x="533095" y="381305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도구 소개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761695"/>
            <a:ext cx="11239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MiroFish란? — 30초 안에 이해하기</a:t>
            </a:r>
            <a:endParaRPr lang="en-US" sz="2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l="-27" r="-27"/>
          <a:stretch/>
        </p:blipFill>
        <p:spPr>
          <a:xfrm>
            <a:off x="857707" y="2095805"/>
            <a:ext cx="428854" cy="3429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29207" y="2000707"/>
            <a:ext cx="100209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"MiroFish는 '비즈니스 전쟁 게임의 AI 버전'이라고 생각하면 됩니다."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1429207" y="2361895"/>
            <a:ext cx="10096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시장에 영향을 주지 않으면서, 가상의 시장 참여자들이 서로 반응하는 것을 관찰할 수 있습니다.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800100" y="3143707"/>
            <a:ext cx="108969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집단지능 시뮬레이션: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수천 명의 가상 AI 인물(에이전트)을 만들어, 이들이 서로 대화하고 논쟁하게 하여 '어떤 일이 벌어질지' 미리 시뮬레이션하는 AI 엔진 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00100" y="3895344"/>
            <a:ext cx="108969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페르소나 생성: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뉴스, 리포트, 시장 데이터를 입력하면 → 소비자, 브랜드, 유통업체, 미디어, 정책 결정자 등 다양한 이해관계자 페르소나를 자동 생성 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800100" y="4647895"/>
            <a:ext cx="108969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다관점 시나리오 도출: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이들이 서로 영향을 주고받는 과정에서, 단일 AI 모델에서는 얻기 어려운 복합적이고 현실적인 '다관점 시나리오'가 도출됨 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2668219" y="5762549"/>
            <a:ext cx="8781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프로젝트 </a:t>
            </a: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GitHub Stars 33K+ </a:t>
            </a: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상하이 션다(Shanda) 후원 </a:t>
            </a:r>
            <a:r>
              <a:rPr lang="en-US" sz="12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$4M 펀딩 확보 (2026년 기준) 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 l="-1613" r="-1613"/>
          <a:stretch/>
        </p:blipFill>
        <p:spPr>
          <a:xfrm>
            <a:off x="2438705" y="5810098"/>
            <a:ext cx="152705" cy="152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429207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095805"/>
            <a:ext cx="1923898" cy="3066898"/>
          </a:xfrm>
          <a:prstGeom prst="roundRect">
            <a:avLst>
              <a:gd name="adj" fmla="val 3765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857500" y="2095805"/>
            <a:ext cx="1923898" cy="3066898"/>
          </a:xfrm>
          <a:prstGeom prst="roundRect">
            <a:avLst>
              <a:gd name="adj" fmla="val 3765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143500" y="2095805"/>
            <a:ext cx="1923898" cy="3066898"/>
          </a:xfrm>
          <a:prstGeom prst="roundRect">
            <a:avLst>
              <a:gd name="adj" fmla="val 3765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429500" y="2095805"/>
            <a:ext cx="1923898" cy="3066898"/>
          </a:xfrm>
          <a:prstGeom prst="roundRect">
            <a:avLst>
              <a:gd name="adj" fmla="val 3765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9715500" y="2095805"/>
            <a:ext cx="1923898" cy="3066898"/>
          </a:xfrm>
          <a:prstGeom prst="roundRect">
            <a:avLst>
              <a:gd name="adj" fmla="val 3765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71500" y="5524805"/>
            <a:ext cx="11048695" cy="571500"/>
          </a:xfrm>
          <a:prstGeom prst="roundRect">
            <a:avLst>
              <a:gd name="adj" fmla="val 21333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405" b="-405"/>
          <a:stretch/>
        </p:blipFill>
        <p:spPr>
          <a:xfrm>
            <a:off x="0" y="0"/>
            <a:ext cx="3047695" cy="3840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71500" y="381305"/>
            <a:ext cx="133319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2572207" y="3429000"/>
            <a:ext cx="200254" cy="22860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4858207" y="3429000"/>
            <a:ext cx="200254" cy="22860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7144207" y="3429000"/>
            <a:ext cx="200254" cy="22860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430207" y="3429000"/>
            <a:ext cx="200254" cy="2286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533095" y="381305"/>
            <a:ext cx="1410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도구 소개</a:t>
            </a:r>
            <a:endParaRPr lang="en-US" sz="1000" dirty="0"/>
          </a:p>
        </p:txBody>
      </p:sp>
      <p:sp>
        <p:nvSpPr>
          <p:cNvPr id="20" name="Text 10"/>
          <p:cNvSpPr txBox="1"/>
          <p:nvPr/>
        </p:nvSpPr>
        <p:spPr>
          <a:xfrm>
            <a:off x="571500" y="761695"/>
            <a:ext cx="112398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MiroFish 작동 방식 — 5단계</a:t>
            </a:r>
            <a:endParaRPr lang="en-US" sz="2700" dirty="0"/>
          </a:p>
        </p:txBody>
      </p:sp>
      <p:sp>
        <p:nvSpPr>
          <p:cNvPr id="21" name="Shape 11"/>
          <p:cNvSpPr/>
          <p:nvPr/>
        </p:nvSpPr>
        <p:spPr>
          <a:xfrm>
            <a:off x="1371600" y="2247595"/>
            <a:ext cx="304495" cy="304495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2"/>
          <p:cNvSpPr/>
          <p:nvPr/>
        </p:nvSpPr>
        <p:spPr>
          <a:xfrm>
            <a:off x="1333195" y="224759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238098" y="2667305"/>
            <a:ext cx="400507" cy="4572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60197" y="3333902"/>
            <a:ext cx="17282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시딩</a:t>
            </a:r>
            <a:endParaRPr lang="en-US" sz="1300" dirty="0"/>
          </a:p>
        </p:txBody>
      </p:sp>
      <p:sp>
        <p:nvSpPr>
          <p:cNvPr id="25" name="Text 14"/>
          <p:cNvSpPr txBox="1"/>
          <p:nvPr/>
        </p:nvSpPr>
        <p:spPr>
          <a:xfrm>
            <a:off x="692201" y="3810305"/>
            <a:ext cx="166420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리포트, 뉴스기사, 도메인 전문 텍스트 등 초기 데이터를 입력</a:t>
            </a:r>
            <a:endParaRPr lang="en-US" sz="1000" dirty="0"/>
          </a:p>
        </p:txBody>
      </p:sp>
      <p:sp>
        <p:nvSpPr>
          <p:cNvPr id="26" name="Shape 15"/>
          <p:cNvSpPr/>
          <p:nvPr/>
        </p:nvSpPr>
        <p:spPr>
          <a:xfrm>
            <a:off x="3657600" y="2247595"/>
            <a:ext cx="304495" cy="304495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6"/>
          <p:cNvSpPr/>
          <p:nvPr/>
        </p:nvSpPr>
        <p:spPr>
          <a:xfrm>
            <a:off x="3619195" y="224759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44" r="-44"/>
          <a:stretch/>
        </p:blipFill>
        <p:spPr>
          <a:xfrm>
            <a:off x="3524098" y="2667305"/>
            <a:ext cx="514807" cy="45720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2946197" y="3333902"/>
            <a:ext cx="17282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그래프 구축</a:t>
            </a:r>
            <a:endParaRPr lang="en-US" sz="1300" dirty="0"/>
          </a:p>
        </p:txBody>
      </p:sp>
      <p:sp>
        <p:nvSpPr>
          <p:cNvPr id="30" name="Text 18"/>
          <p:cNvSpPr txBox="1"/>
          <p:nvPr/>
        </p:nvSpPr>
        <p:spPr>
          <a:xfrm>
            <a:off x="2978201" y="3810305"/>
            <a:ext cx="166420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입력된 정보 간의 개체와 관계를 연결하여 시장 맥락 구조화</a:t>
            </a:r>
            <a:endParaRPr lang="en-US" sz="1000" dirty="0"/>
          </a:p>
        </p:txBody>
      </p:sp>
      <p:sp>
        <p:nvSpPr>
          <p:cNvPr id="31" name="Shape 19"/>
          <p:cNvSpPr/>
          <p:nvPr/>
        </p:nvSpPr>
        <p:spPr>
          <a:xfrm>
            <a:off x="5943600" y="2247595"/>
            <a:ext cx="304495" cy="304495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0"/>
          <p:cNvSpPr/>
          <p:nvPr/>
        </p:nvSpPr>
        <p:spPr>
          <a:xfrm>
            <a:off x="5905195" y="224759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810098" y="2667305"/>
            <a:ext cx="571500" cy="4572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232197" y="3333902"/>
            <a:ext cx="17282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생성</a:t>
            </a:r>
            <a:endParaRPr lang="en-US" sz="1300" dirty="0"/>
          </a:p>
        </p:txBody>
      </p:sp>
      <p:sp>
        <p:nvSpPr>
          <p:cNvPr id="35" name="Text 22"/>
          <p:cNvSpPr txBox="1"/>
          <p:nvPr/>
        </p:nvSpPr>
        <p:spPr>
          <a:xfrm>
            <a:off x="5264201" y="3810305"/>
            <a:ext cx="166420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역할, 성향, 목표가 다른 다종 페르소나(수천 명) 구성</a:t>
            </a:r>
            <a:endParaRPr lang="en-US" sz="1000" dirty="0"/>
          </a:p>
        </p:txBody>
      </p:sp>
      <p:sp>
        <p:nvSpPr>
          <p:cNvPr id="36" name="Shape 23"/>
          <p:cNvSpPr/>
          <p:nvPr/>
        </p:nvSpPr>
        <p:spPr>
          <a:xfrm>
            <a:off x="8229600" y="2247595"/>
            <a:ext cx="304495" cy="304495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4"/>
          <p:cNvSpPr/>
          <p:nvPr/>
        </p:nvSpPr>
        <p:spPr>
          <a:xfrm>
            <a:off x="8191195" y="224759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96098" y="2667305"/>
            <a:ext cx="571500" cy="4572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7518197" y="3333902"/>
            <a:ext cx="17282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실행</a:t>
            </a:r>
            <a:endParaRPr lang="en-US" sz="1300" dirty="0"/>
          </a:p>
        </p:txBody>
      </p:sp>
      <p:sp>
        <p:nvSpPr>
          <p:cNvPr id="40" name="Text 26"/>
          <p:cNvSpPr txBox="1"/>
          <p:nvPr/>
        </p:nvSpPr>
        <p:spPr>
          <a:xfrm>
            <a:off x="7550201" y="3810305"/>
            <a:ext cx="166420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간의 토론, 협상, 반응을 시간 축으로 전개</a:t>
            </a:r>
            <a:endParaRPr lang="en-US" sz="1000" dirty="0"/>
          </a:p>
        </p:txBody>
      </p:sp>
      <p:sp>
        <p:nvSpPr>
          <p:cNvPr id="41" name="Shape 27"/>
          <p:cNvSpPr/>
          <p:nvPr/>
        </p:nvSpPr>
        <p:spPr>
          <a:xfrm>
            <a:off x="10515600" y="2247595"/>
            <a:ext cx="304495" cy="304495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8"/>
          <p:cNvSpPr/>
          <p:nvPr/>
        </p:nvSpPr>
        <p:spPr>
          <a:xfrm>
            <a:off x="10477195" y="224759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382098" y="2667305"/>
            <a:ext cx="342900" cy="457200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9804197" y="3333902"/>
            <a:ext cx="172821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생성</a:t>
            </a:r>
            <a:endParaRPr lang="en-US" sz="1300" dirty="0"/>
          </a:p>
        </p:txBody>
      </p:sp>
      <p:sp>
        <p:nvSpPr>
          <p:cNvPr id="45" name="Text 30"/>
          <p:cNvSpPr txBox="1"/>
          <p:nvPr/>
        </p:nvSpPr>
        <p:spPr>
          <a:xfrm>
            <a:off x="9836201" y="3810305"/>
            <a:ext cx="166420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결과와 핵심 인사이트를 자동으로 서술 및 정리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2613355" y="5667451"/>
            <a:ext cx="9006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과정은 데이터 입력부터 보고서 산출까지 자동화되어 있으며, 사용자는 주제와 시드 데이터만 준비하면 됩니다. </a:t>
            </a:r>
            <a:endParaRPr lang="en-US" sz="12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342693" y="5715000"/>
            <a:ext cx="152705" cy="152705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49" name="Text 33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095805"/>
            <a:ext cx="3448202" cy="3829507"/>
          </a:xfrm>
          <a:prstGeom prst="roundRect">
            <a:avLst>
              <a:gd name="adj" fmla="val 1172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381805" y="2095805"/>
            <a:ext cx="3448202" cy="3829507"/>
          </a:xfrm>
          <a:prstGeom prst="roundRect">
            <a:avLst>
              <a:gd name="adj" fmla="val 1172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8191195" y="2095805"/>
            <a:ext cx="3448202" cy="3829507"/>
          </a:xfrm>
          <a:prstGeom prst="roundRect">
            <a:avLst>
              <a:gd name="adj" fmla="val 1172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396" b="-396"/>
          <a:stretch/>
        </p:blipFill>
        <p:spPr>
          <a:xfrm>
            <a:off x="0" y="0"/>
            <a:ext cx="3810305" cy="384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381305"/>
            <a:ext cx="133319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1886407" y="2381098"/>
            <a:ext cx="800100" cy="8001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5695798" y="2381098"/>
            <a:ext cx="800100" cy="8001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9506102" y="2381098"/>
            <a:ext cx="800100" cy="800100"/>
          </a:xfrm>
          <a:prstGeom prst="ellipse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580644" y="381305"/>
            <a:ext cx="13149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도구 소개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곳에서는 이렇게 활용되고 있다</a:t>
            </a:r>
            <a:endParaRPr lang="en-US" sz="27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1333195"/>
            <a:ext cx="11163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MiroFish를 활용한 대표적 사례 3건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7400" y="2553005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61695" y="3333902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 시장 예측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857707" y="3905402"/>
            <a:ext cx="293431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개발자가 MiroFish를 폴리마켓(예측 시장 플랫폼) 거래 봇과 연결. 약 2,800명의 가상 트레이더·분석가·투자자를 생성해 시뮬레이션.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CC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338건의 거래에서 $4,200+ 수익을 보고함.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67705" y="2553005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72000" y="3333902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공공정책 여론 예측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4667098" y="3905402"/>
            <a:ext cx="293431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뉴스·정책 초안을 시드 데이터로 입력하면, 가상 소셜미디어 환경에서 AI 에이전트들이 찬반 토론. 의견 전염·양극화 과정을 실시간 시뮬레이션하여,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정책 발표 전 사회적 반응을 제로 리스크로 테스트.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77095" y="2553005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382305" y="3333902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위기관리 PR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8477402" y="3905402"/>
            <a:ext cx="29343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기업 스캔들 발생 시 "A 방식 사과" vs "B 방식 대응"에 대한 가상 시민 반응을 시뮬레이션.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분노 수치, 신뢰도 회복 속도를 비교하여 최적의 대응 시점과 메시지 결정.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429207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714500"/>
            <a:ext cx="11106302" cy="761695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1714500"/>
            <a:ext cx="57607" cy="761695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" y="5333695"/>
            <a:ext cx="11048695" cy="761695"/>
          </a:xfrm>
          <a:prstGeom prst="roundRect">
            <a:avLst>
              <a:gd name="adj" fmla="val 12005"/>
            </a:avLst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4572000" cy="384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381305"/>
            <a:ext cx="1333195" cy="228600"/>
          </a:xfrm>
          <a:prstGeom prst="roundRect">
            <a:avLst>
              <a:gd name="adj" fmla="val 133333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 txBox="1"/>
          <p:nvPr/>
        </p:nvSpPr>
        <p:spPr>
          <a:xfrm>
            <a:off x="518465" y="381305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테스트 과정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설계 — 무엇을 시뮬레이션했나</a:t>
            </a:r>
            <a:endParaRPr lang="en-US" sz="2700" dirty="0"/>
          </a:p>
        </p:txBody>
      </p:sp>
      <p:sp>
        <p:nvSpPr>
          <p:cNvPr id="14" name="Text 8"/>
          <p:cNvSpPr txBox="1"/>
          <p:nvPr/>
        </p:nvSpPr>
        <p:spPr>
          <a:xfrm>
            <a:off x="857707" y="1857146"/>
            <a:ext cx="1091245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PB 의류 브랜드가 10% 가격 인상을 유지할 경우, 향후 2년간(2026-2028) 시장에 어떤 영향이 있을지 시뮬레이션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71500" y="2762402"/>
            <a:ext cx="38405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 txBox="1"/>
          <p:nvPr/>
        </p:nvSpPr>
        <p:spPr>
          <a:xfrm>
            <a:off x="724205" y="2762402"/>
            <a:ext cx="5296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(Subject)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00100" y="3143707"/>
            <a:ext cx="615757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타겟(Target) 프라이빗 라벨 의류 브랜드의 가격 인상 유지 시 영향 예측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71500" y="3905402"/>
            <a:ext cx="38405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724205" y="3905402"/>
            <a:ext cx="5296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브랜드 (Brands)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00100" y="4286707"/>
            <a:ext cx="5220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Goodfellow &amp; Co</a:t>
            </a: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남성복 프리미엄 포지셔닝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00100" y="4560113"/>
            <a:ext cx="5220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 &amp; Jack</a:t>
            </a: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아동복, 가족 예산 민감 세그먼트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86500" y="2762402"/>
            <a:ext cx="38405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6439205" y="2762402"/>
            <a:ext cx="5296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관심 지표 (Metrics)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515100" y="3143707"/>
            <a:ext cx="51819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수요(거래량) 변화, 세그먼트별 가격 민감도, 경쟁사 반응, 공급망·운영 레버, 리스크 요인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286500" y="3905402"/>
            <a:ext cx="38405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6439205" y="3905402"/>
            <a:ext cx="5296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가정 (Assumptions)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515100" y="4286707"/>
            <a:ext cx="5296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탄력 시장 가정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515100" y="4560113"/>
            <a:ext cx="5296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인상 고지 완료 상황 전제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515100" y="4834433"/>
            <a:ext cx="5296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경쟁사는 역사적 패턴 내 변동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5529377"/>
            <a:ext cx="190195" cy="1901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95451" y="5477256"/>
            <a:ext cx="105256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시뮬레이션은 입력 데이터의 품질과 범위에 의존하며, 통계적으로 검증된 예측이 아닙니다. 의사결정의 참고 자료로 활용해주시기 바랍니다.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429207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809598"/>
            <a:ext cx="6877202" cy="42098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810805" y="5143500"/>
            <a:ext cx="3847795" cy="10479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810805" y="5143500"/>
            <a:ext cx="38405" cy="104790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403" b="-403"/>
          <a:stretch/>
        </p:blipFill>
        <p:spPr>
          <a:xfrm>
            <a:off x="0" y="0"/>
            <a:ext cx="5333695" cy="384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381305"/>
            <a:ext cx="1429207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8657" r="8657"/>
          <a:stretch/>
        </p:blipFill>
        <p:spPr>
          <a:xfrm>
            <a:off x="666598" y="1904695"/>
            <a:ext cx="6667805" cy="40005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14807" y="381305"/>
            <a:ext cx="1543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테스트 과정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구축 — 지식 그래프와 61개 AI 에이전트</a:t>
            </a:r>
            <a:endParaRPr lang="en-US" sz="2700" dirty="0"/>
          </a:p>
        </p:txBody>
      </p:sp>
      <p:sp>
        <p:nvSpPr>
          <p:cNvPr id="15" name="Shape 8"/>
          <p:cNvSpPr/>
          <p:nvPr/>
        </p:nvSpPr>
        <p:spPr>
          <a:xfrm>
            <a:off x="7810805" y="2219249"/>
            <a:ext cx="1828800" cy="192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7810805" y="1809598"/>
            <a:ext cx="190195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2/5단계: 환경 건설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8001000" y="2381098"/>
            <a:ext cx="36960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61개 에이전트 자동 구성: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소매업체, 의류 브랜드, 섬유 제조사, 미디어, 정책 입안자, 시장 분석가 등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8001000" y="3279953"/>
            <a:ext cx="36960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엔티티 간 관계 유형: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COLLABORATES_WITH (협력), REPORTS_ON (보도), COMPETES_IN_MARKET (경쟁) 등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8001000" y="4179722"/>
            <a:ext cx="36960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</a:t>
            </a: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시장 생태계와 유사한 구조를 가상으로 정교하게 재현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001000" y="5286146"/>
            <a:ext cx="200254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001000" y="5524805"/>
            <a:ext cx="350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"단순히 AI에게 질문한 것이 아니라, 시장 참여자 전체를 모델링한 디지털 세계를 구축한 것"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095805"/>
            <a:ext cx="3543300" cy="24953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334256" y="2095805"/>
            <a:ext cx="3543300" cy="24953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8096098" y="2095805"/>
            <a:ext cx="3543300" cy="24953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71500" y="5524805"/>
            <a:ext cx="11087100" cy="571500"/>
          </a:xfrm>
          <a:prstGeom prst="roundRect">
            <a:avLst>
              <a:gd name="adj" fmla="val 21333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1500" y="5524805"/>
            <a:ext cx="38405" cy="571500"/>
          </a:xfrm>
          <a:prstGeom prst="roundRect">
            <a:avLst>
              <a:gd name="adj" fmla="val 317459"/>
            </a:avLst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-397" b="-397"/>
          <a:stretch/>
        </p:blipFill>
        <p:spPr>
          <a:xfrm>
            <a:off x="0" y="0"/>
            <a:ext cx="6096305" cy="384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71500" y="381305"/>
            <a:ext cx="152430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l="20016" r="20016"/>
          <a:stretch/>
        </p:blipFill>
        <p:spPr>
          <a:xfrm>
            <a:off x="619049" y="2143354"/>
            <a:ext cx="3429000" cy="238109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20156" r="20156"/>
          <a:stretch/>
        </p:blipFill>
        <p:spPr>
          <a:xfrm>
            <a:off x="4381805" y="2143354"/>
            <a:ext cx="3429000" cy="2381098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rcRect l="19904" r="19904"/>
          <a:stretch/>
        </p:blipFill>
        <p:spPr>
          <a:xfrm>
            <a:off x="8143646" y="2143354"/>
            <a:ext cx="3429000" cy="2381098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rcRect t="-66" b="-66"/>
          <a:stretch/>
        </p:blipFill>
        <p:spPr>
          <a:xfrm>
            <a:off x="571500" y="2095805"/>
            <a:ext cx="1285646" cy="267005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0"/>
          <a:srcRect t="-66" b="-66"/>
          <a:stretch/>
        </p:blipFill>
        <p:spPr>
          <a:xfrm>
            <a:off x="4334256" y="2095805"/>
            <a:ext cx="1285646" cy="267005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1"/>
          <a:srcRect t="-66" b="-66"/>
          <a:stretch/>
        </p:blipFill>
        <p:spPr>
          <a:xfrm>
            <a:off x="8096098" y="2095805"/>
            <a:ext cx="1285646" cy="267005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510235" y="381305"/>
            <a:ext cx="16459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테스트 과정</a:t>
            </a:r>
            <a:endParaRPr lang="en-US" sz="1000" dirty="0"/>
          </a:p>
        </p:txBody>
      </p:sp>
      <p:sp>
        <p:nvSpPr>
          <p:cNvPr id="21" name="Text 9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인터뷰 — 다관점 응답 예시</a:t>
            </a:r>
            <a:endParaRPr lang="en-US" sz="2700" dirty="0"/>
          </a:p>
        </p:txBody>
      </p:sp>
      <p:sp>
        <p:nvSpPr>
          <p:cNvPr id="22" name="Text 10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질문에 대해 역할별로 상이한 논리와 우선순위를 제시</a:t>
            </a:r>
            <a:endParaRPr lang="en-US" sz="1500" dirty="0"/>
          </a:p>
        </p:txBody>
      </p:sp>
      <p:sp>
        <p:nvSpPr>
          <p:cNvPr id="23" name="Text 11"/>
          <p:cNvSpPr txBox="1"/>
          <p:nvPr/>
        </p:nvSpPr>
        <p:spPr>
          <a:xfrm>
            <a:off x="520294" y="2095805"/>
            <a:ext cx="13889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소매업체 관점</a:t>
            </a:r>
            <a:endParaRPr lang="en-US" sz="900" dirty="0"/>
          </a:p>
        </p:txBody>
      </p:sp>
      <p:sp>
        <p:nvSpPr>
          <p:cNvPr id="24" name="Text 12"/>
          <p:cNvSpPr txBox="1"/>
          <p:nvPr/>
        </p:nvSpPr>
        <p:spPr>
          <a:xfrm>
            <a:off x="571500" y="4667098"/>
            <a:ext cx="36009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target_122 에이전트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정당화를 위한 품질·디자인·지속가능성 강화 전략 제시</a:t>
            </a:r>
            <a:endParaRPr lang="en-US" sz="1200" dirty="0"/>
          </a:p>
        </p:txBody>
      </p:sp>
      <p:sp>
        <p:nvSpPr>
          <p:cNvPr id="25" name="Text 13"/>
          <p:cNvSpPr txBox="1"/>
          <p:nvPr/>
        </p:nvSpPr>
        <p:spPr>
          <a:xfrm>
            <a:off x="4282135" y="2095805"/>
            <a:ext cx="13889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의류브랜드 관점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4334256" y="4667098"/>
            <a:ext cx="36009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major_apparel_brands_487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대응과 브랜드 로열티 프로그램 관점의 분석</a:t>
            </a:r>
            <a:endParaRPr lang="en-US" sz="1200" dirty="0"/>
          </a:p>
        </p:txBody>
      </p:sp>
      <p:sp>
        <p:nvSpPr>
          <p:cNvPr id="27" name="Text 15"/>
          <p:cNvSpPr txBox="1"/>
          <p:nvPr/>
        </p:nvSpPr>
        <p:spPr>
          <a:xfrm>
            <a:off x="8044891" y="2095805"/>
            <a:ext cx="13889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정책/관세 관점</a:t>
            </a:r>
            <a:endParaRPr lang="en-US" sz="900" dirty="0"/>
          </a:p>
        </p:txBody>
      </p:sp>
      <p:sp>
        <p:nvSpPr>
          <p:cNvPr id="28" name="Text 16"/>
          <p:cNvSpPr txBox="1"/>
          <p:nvPr/>
        </p:nvSpPr>
        <p:spPr>
          <a:xfrm>
            <a:off x="8096098" y="4667098"/>
            <a:ext cx="36009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trump_607 에이전트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관세 정책이 소비자 가격과 PB 브랜드 가치 인식에 미치는 영향</a:t>
            </a:r>
            <a:endParaRPr lang="en-US" sz="12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761695" y="5695798"/>
            <a:ext cx="171907" cy="2286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143000" y="5667451"/>
            <a:ext cx="10478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인터뷰 세션 × 61개 에이전트 = 약 12,800자의 다관점 분석 텍스트 자동 생성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32" name="Text 19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904695"/>
            <a:ext cx="6877202" cy="420989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810805" y="5143500"/>
            <a:ext cx="3847795" cy="952805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810805" y="5143500"/>
            <a:ext cx="38405" cy="952805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476695"/>
            <a:ext cx="11048695" cy="9144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6858000" cy="384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381305"/>
            <a:ext cx="152430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15297" r="15297"/>
          <a:stretch/>
        </p:blipFill>
        <p:spPr>
          <a:xfrm>
            <a:off x="666598" y="2000707"/>
            <a:ext cx="6667805" cy="40005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10235" y="381305"/>
            <a:ext cx="16459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테스트 과정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보고서 생성</a:t>
            </a:r>
            <a:endParaRPr lang="en-US" sz="27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1238098"/>
            <a:ext cx="11239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4/5단계: 에이전트 인터뷰 결과를 종합하여 자동 보고서 생성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810805" y="2314346"/>
            <a:ext cx="2523744" cy="1920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 txBox="1"/>
          <p:nvPr/>
        </p:nvSpPr>
        <p:spPr>
          <a:xfrm>
            <a:off x="7810805" y="1904695"/>
            <a:ext cx="26106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4/5단계: 보고서 생성 완료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8001000" y="2476195"/>
            <a:ext cx="3696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인터뷰 세션 수행: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다각적 관점 확보를 위한 심층 질문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8001000" y="3010205"/>
            <a:ext cx="3696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61개 에이전트 참여: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전체 이해관계자 모델링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8001000" y="3543300"/>
            <a:ext cx="3696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12,800자의 분석 텍스트: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자동 생성한 상세 분석 내용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001000" y="4076395"/>
            <a:ext cx="3696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구성: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포지셔닝 / 소비자 행동 변화 / 공급망 적응 / 경쟁 구도 / 리스크 분석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001000" y="5286146"/>
            <a:ext cx="200254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382305" y="5286146"/>
            <a:ext cx="3124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다음 섹션에서 이 보고서의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수치와 시사점을 정리합니다 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571500" y="6572707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7696505" y="6572707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095805"/>
            <a:ext cx="6667805" cy="3047695"/>
          </a:xfrm>
          <a:prstGeom prst="roundRect">
            <a:avLst>
              <a:gd name="adj" fmla="val 150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619695" y="2095805"/>
            <a:ext cx="4067251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619695" y="2095805"/>
            <a:ext cx="57607" cy="1447495"/>
          </a:xfrm>
          <a:prstGeom prst="roundRect">
            <a:avLst>
              <a:gd name="adj" fmla="val 83542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619695" y="3715207"/>
            <a:ext cx="4067251" cy="1447495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19695" y="3715207"/>
            <a:ext cx="57607" cy="1447495"/>
          </a:xfrm>
          <a:prstGeom prst="roundRect">
            <a:avLst>
              <a:gd name="adj" fmla="val 83542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71500" y="5429707"/>
            <a:ext cx="11087100" cy="666598"/>
          </a:xfrm>
          <a:prstGeom prst="roundRect">
            <a:avLst>
              <a:gd name="adj" fmla="val 15677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1500" y="5429707"/>
            <a:ext cx="38405" cy="666598"/>
          </a:xfrm>
          <a:prstGeom prst="roundRect">
            <a:avLst>
              <a:gd name="adj" fmla="val 272107"/>
            </a:avLst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0" y="0"/>
            <a:ext cx="7619695" cy="3840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1500" y="381305"/>
            <a:ext cx="190469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 txBox="1"/>
          <p:nvPr/>
        </p:nvSpPr>
        <p:spPr>
          <a:xfrm>
            <a:off x="495605" y="381305"/>
            <a:ext cx="20574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시뮬레이션 결과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탄력성 — 핵심 수치</a:t>
            </a:r>
            <a:endParaRPr lang="en-US" sz="27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 가격 인상 유지 시 예상되는 수요 변화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52805" y="2476195"/>
            <a:ext cx="2057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인상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52805" y="2848356"/>
            <a:ext cx="20574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+10%</a:t>
            </a:r>
            <a:endParaRPr lang="en-US" sz="48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38805" y="2762402"/>
            <a:ext cx="571500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90695" y="2476195"/>
            <a:ext cx="2857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반응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4190695" y="2848356"/>
            <a:ext cx="28575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−6~8%</a:t>
            </a:r>
            <a:endParaRPr lang="en-US" sz="4800" dirty="0"/>
          </a:p>
        </p:txBody>
      </p:sp>
      <p:sp>
        <p:nvSpPr>
          <p:cNvPr id="24" name="Text 17"/>
          <p:cNvSpPr txBox="1"/>
          <p:nvPr/>
        </p:nvSpPr>
        <p:spPr>
          <a:xfrm>
            <a:off x="914400" y="4000500"/>
            <a:ext cx="59820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완만하지만 무시할 수 없는 탄력성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충격은 파괴적이지 않으나 누적되면 시장 점유율을 잠식할 수준 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848295" y="2238451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 &amp; Jack (리스크: 높음)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848295" y="2572207"/>
            <a:ext cx="133776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74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−3~5%</a:t>
            </a:r>
            <a:endParaRPr lang="en-US" sz="2700" dirty="0"/>
          </a:p>
        </p:txBody>
      </p:sp>
      <p:sp>
        <p:nvSpPr>
          <p:cNvPr id="27" name="Text 20"/>
          <p:cNvSpPr txBox="1"/>
          <p:nvPr/>
        </p:nvSpPr>
        <p:spPr>
          <a:xfrm>
            <a:off x="9144000" y="2619756"/>
            <a:ext cx="2457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중산층 가정 가격 민감도 직접 노출.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거래량 감소 가능성이 더 높음 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848295" y="3857854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Goodfellow &amp; Co (리스크: 중간)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7848295" y="4190695"/>
            <a:ext cx="133776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9C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−1~2%</a:t>
            </a:r>
            <a:endParaRPr lang="en-US" sz="2700" dirty="0"/>
          </a:p>
        </p:txBody>
      </p:sp>
      <p:sp>
        <p:nvSpPr>
          <p:cNvPr id="30" name="Text 23"/>
          <p:cNvSpPr txBox="1"/>
          <p:nvPr/>
        </p:nvSpPr>
        <p:spPr>
          <a:xfrm>
            <a:off x="9144000" y="4238244"/>
            <a:ext cx="2457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프리미엄 포지셔닝 기반 방어력.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낮은 하락 폭 </a:t>
            </a:r>
            <a:endParaRPr lang="en-US" sz="1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761695" y="5648249"/>
            <a:ext cx="171907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43000" y="5572354"/>
            <a:ext cx="10478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상승을 정당화하는 가치 강화가 수반되지 않으면, 볼륨 압박이 점진적으로 심화될 수 있음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904695"/>
            <a:ext cx="6667805" cy="381305"/>
          </a:xfrm>
          <a:prstGeom prst="rect">
            <a:avLst/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286000"/>
            <a:ext cx="6667805" cy="771754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" y="3048610"/>
            <a:ext cx="666780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71500" y="3047695"/>
            <a:ext cx="6667805" cy="7717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1500" y="3810305"/>
            <a:ext cx="666780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71500" y="4476902"/>
            <a:ext cx="6724498" cy="362102"/>
          </a:xfrm>
          <a:prstGeom prst="rect">
            <a:avLst/>
          </a:prstGeom>
          <a:solidFill>
            <a:srgbClr val="FDED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1500" y="4476902"/>
            <a:ext cx="57607" cy="36210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1500" y="4905756"/>
            <a:ext cx="6724498" cy="362102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71500" y="4905756"/>
            <a:ext cx="57607" cy="36210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1500" y="5333695"/>
            <a:ext cx="6724498" cy="362102"/>
          </a:xfrm>
          <a:prstGeom prst="rect">
            <a:avLst/>
          </a:prstGeom>
          <a:solidFill>
            <a:srgbClr val="EAFA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1500" y="5333695"/>
            <a:ext cx="57607" cy="36210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619695" y="1904695"/>
            <a:ext cx="4000500" cy="1143000"/>
          </a:xfrm>
          <a:prstGeom prst="roundRect">
            <a:avLst>
              <a:gd name="adj" fmla="val 10667"/>
            </a:avLst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619695" y="3238805"/>
            <a:ext cx="4000500" cy="1143000"/>
          </a:xfrm>
          <a:prstGeom prst="roundRect">
            <a:avLst>
              <a:gd name="adj" fmla="val 10667"/>
            </a:avLst>
          </a:prstGeom>
          <a:solidFill>
            <a:srgbClr val="FEF9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619695" y="4572000"/>
            <a:ext cx="4000500" cy="1143000"/>
          </a:xfrm>
          <a:prstGeom prst="roundRect">
            <a:avLst>
              <a:gd name="adj" fmla="val 10667"/>
            </a:avLst>
          </a:prstGeom>
          <a:solidFill>
            <a:srgbClr val="FDED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71500" y="5810098"/>
            <a:ext cx="11087100" cy="381305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71500" y="5810098"/>
            <a:ext cx="38405" cy="381305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t="-398" b="-398"/>
          <a:stretch/>
        </p:blipFill>
        <p:spPr>
          <a:xfrm>
            <a:off x="0" y="0"/>
            <a:ext cx="8382305" cy="3840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71500" y="381305"/>
            <a:ext cx="190469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495605" y="381305"/>
            <a:ext cx="20574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시뮬레이션 결과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반응 — 세대별·소득별 차이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인상에 대한 반응은 세그먼트마다 확연히 다르다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14146" y="1904695"/>
            <a:ext cx="1543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 구분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2286000" y="1904695"/>
            <a:ext cx="15435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반응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810305" y="1904695"/>
            <a:ext cx="3429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지불 유인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714146" y="2381098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Z세대 · 밀레니얼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2286000" y="2381098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높음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810305" y="2381098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진정한 브랜드 내러티브, 지속가능한 생산,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독특한 디자인, 사회적 책임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14146" y="3143707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X세대 · 베이비붐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2286000" y="3143707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패턴 안정적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3810305" y="3143707"/>
            <a:ext cx="33147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대비 가치, 편리함·접근성,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유산·신뢰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571500" y="4095598"/>
            <a:ext cx="685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소득 기반 민감도 3단계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761695" y="4476902"/>
            <a:ext cx="3924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중산층 가정 / Cat &amp; Jack 핵심층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5600700" y="4476902"/>
            <a:ext cx="15435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민감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61695" y="4905756"/>
            <a:ext cx="4000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대중 시장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5600700" y="4905756"/>
            <a:ext cx="15435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35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민감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761695" y="5333695"/>
            <a:ext cx="3924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고소득층 / Goodfellow 남성복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5600700" y="5333695"/>
            <a:ext cx="15435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 내성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7810805" y="2095805"/>
            <a:ext cx="1234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68%</a:t>
            </a:r>
            <a:endParaRPr lang="en-US" sz="3600" dirty="0"/>
          </a:p>
        </p:txBody>
      </p:sp>
      <p:sp>
        <p:nvSpPr>
          <p:cNvPr id="45" name="Text 39"/>
          <p:cNvSpPr txBox="1"/>
          <p:nvPr/>
        </p:nvSpPr>
        <p:spPr>
          <a:xfrm>
            <a:off x="9048902" y="2190902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인상을 품질 개선과 연결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(조건부 수용)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7810805" y="3429000"/>
            <a:ext cx="1234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39C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42%</a:t>
            </a:r>
            <a:endParaRPr lang="en-US" sz="3600" dirty="0"/>
          </a:p>
        </p:txBody>
      </p:sp>
      <p:sp>
        <p:nvSpPr>
          <p:cNvPr id="47" name="Text 41"/>
          <p:cNvSpPr txBox="1"/>
          <p:nvPr/>
        </p:nvSpPr>
        <p:spPr>
          <a:xfrm>
            <a:off x="9048902" y="3524098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가격을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공정~공정하다고 인식 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7810805" y="4762195"/>
            <a:ext cx="1234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74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31%</a:t>
            </a:r>
            <a:endParaRPr lang="en-US" sz="3600" dirty="0"/>
          </a:p>
        </p:txBody>
      </p:sp>
      <p:sp>
        <p:nvSpPr>
          <p:cNvPr id="49" name="Text 43"/>
          <p:cNvSpPr txBox="1"/>
          <p:nvPr/>
        </p:nvSpPr>
        <p:spPr>
          <a:xfrm>
            <a:off x="9048902" y="4858207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계획 구매 감소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(가치 내러티브 약한 세그먼트)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1014070" y="5810098"/>
            <a:ext cx="106061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Goodfellow는 고소득층 내성이 상대적으로 높고, Cat &amp; Jack은 가족 예산 압박의 영향을 더 직접적으로 받는다 </a:t>
            </a:r>
            <a:endParaRPr lang="en-US" sz="1200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761695" y="5934456"/>
            <a:ext cx="114300" cy="152705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904695"/>
            <a:ext cx="6687007" cy="401970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619695" y="1904695"/>
            <a:ext cx="4038905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619695" y="2762402"/>
            <a:ext cx="4038905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619695" y="3619195"/>
            <a:ext cx="4038905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19695" y="4476902"/>
            <a:ext cx="4038905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619695" y="5333695"/>
            <a:ext cx="4038905" cy="5715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619695" y="5333695"/>
            <a:ext cx="38405" cy="571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9144000" cy="3840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1500" y="381305"/>
            <a:ext cx="209580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 t="-2083" b="-2083"/>
          <a:stretch/>
        </p:blipFill>
        <p:spPr>
          <a:xfrm>
            <a:off x="3905402" y="1904695"/>
            <a:ext cx="9144" cy="400050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571500" y="3905402"/>
            <a:ext cx="6667805" cy="914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87375" y="381305"/>
            <a:ext cx="226314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시뮬레이션 결과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 — 포지셔닝 매트릭스</a:t>
            </a:r>
            <a:endParaRPr lang="en-US" sz="2700" dirty="0"/>
          </a:p>
        </p:txBody>
      </p:sp>
      <p:sp>
        <p:nvSpPr>
          <p:cNvPr id="20" name="Text 12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타겟은 '균형형 프리미엄 가치'를 증명해야 하는 위치에 있다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476402" y="6001207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X축: 브랜드/운영 차별화 강도 (낮음 → 높음)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" y="1904695"/>
            <a:ext cx="3429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Y축: 가격 공격성 (낮음 → 높음)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1429207" y="2381098"/>
            <a:ext cx="190195" cy="190195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 txBox="1"/>
          <p:nvPr/>
        </p:nvSpPr>
        <p:spPr>
          <a:xfrm>
            <a:off x="923544" y="2619756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Walmart</a:t>
            </a:r>
            <a:endParaRPr lang="en-US" sz="9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가격 + PB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3810305" y="3047695"/>
            <a:ext cx="190195" cy="190195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 txBox="1"/>
          <p:nvPr/>
        </p:nvSpPr>
        <p:spPr>
          <a:xfrm>
            <a:off x="3400654" y="3286354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Amazon</a:t>
            </a:r>
            <a:endParaRPr lang="en-US" sz="9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개발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1714500" y="3619195"/>
            <a:ext cx="190195" cy="190195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 txBox="1"/>
          <p:nvPr/>
        </p:nvSpPr>
        <p:spPr>
          <a:xfrm>
            <a:off x="1209751" y="3857854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Old Navy</a:t>
            </a:r>
            <a:endParaRPr lang="en-US" sz="9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제안 + 프로모션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5715000" y="4953305"/>
            <a:ext cx="190195" cy="190195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5210251" y="5191049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Kohl's</a:t>
            </a:r>
            <a:endParaRPr lang="en-US" sz="9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로열티 + 파트너십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953305" y="3619195"/>
            <a:ext cx="323698" cy="323698"/>
          </a:xfrm>
          <a:prstGeom prst="ellipse">
            <a:avLst/>
          </a:prstGeom>
          <a:solidFill>
            <a:srgbClr val="003366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 txBox="1"/>
          <p:nvPr/>
        </p:nvSpPr>
        <p:spPr>
          <a:xfrm>
            <a:off x="4448556" y="3952951"/>
            <a:ext cx="12957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CC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균형형 프리미엄 가치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7810805" y="2000707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Walmart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810805" y="22667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공격적인 가격 책정과 프라이빗 라벨 확대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7810805" y="2857500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Amazon Essentials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810805" y="31245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제품 개발과 경쟁력 있는 가격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810805" y="3715207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Old Navy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810805" y="3981298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가치 제안과 빈번한 프로모션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7810805" y="4572000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Kohl's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810805" y="4839005"/>
            <a:ext cx="3810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강화된 로열티 프로그램과 독점 파트너십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7810805" y="5429707"/>
            <a:ext cx="3696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타겟은 이들 모두와 정면 비교되는 상황에서,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경쟁이 아닌 가치 차별화로 포지션을 지켜야 한다 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2190902"/>
            <a:ext cx="11048695" cy="384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2476195"/>
            <a:ext cx="5333695" cy="2704795"/>
          </a:xfrm>
          <a:prstGeom prst="roundRect">
            <a:avLst>
              <a:gd name="adj" fmla="val 1905"/>
            </a:avLst>
          </a:prstGeom>
          <a:solidFill>
            <a:srgbClr val="EB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3"/>
          <p:cNvSpPr/>
          <p:nvPr/>
        </p:nvSpPr>
        <p:spPr>
          <a:xfrm>
            <a:off x="571500" y="2476195"/>
            <a:ext cx="5333695" cy="38405"/>
          </a:xfrm>
          <a:prstGeom prst="roundRect">
            <a:avLst>
              <a:gd name="adj" fmla="val 134137"/>
            </a:avLst>
          </a:prstGeom>
          <a:solidFill>
            <a:srgbClr val="3498DB"/>
          </a:solidFill>
          <a:ln w="12700">
            <a:solidFill>
              <a:srgbClr val="3498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286500" y="2476195"/>
            <a:ext cx="5333695" cy="2704795"/>
          </a:xfrm>
          <a:prstGeom prst="roundRect">
            <a:avLst>
              <a:gd name="adj" fmla="val 1905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286500" y="2476195"/>
            <a:ext cx="5333695" cy="38405"/>
          </a:xfrm>
          <a:prstGeom prst="roundRect">
            <a:avLst>
              <a:gd name="adj" fmla="val 134137"/>
            </a:avLst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571500" y="5429707"/>
            <a:ext cx="11087100" cy="761695"/>
          </a:xfrm>
          <a:prstGeom prst="roundRect">
            <a:avLst>
              <a:gd name="adj" fmla="val 12005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571500" y="5429707"/>
            <a:ext cx="38405" cy="761695"/>
          </a:xfrm>
          <a:prstGeom prst="roundRect">
            <a:avLst>
              <a:gd name="adj" fmla="val 238094"/>
            </a:avLst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t="-402" b="-402"/>
          <a:stretch/>
        </p:blipFill>
        <p:spPr>
          <a:xfrm>
            <a:off x="0" y="0"/>
            <a:ext cx="9905695" cy="384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71500" y="381305"/>
            <a:ext cx="2095805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43707" y="2057400"/>
            <a:ext cx="381305" cy="381305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67598" y="2057400"/>
            <a:ext cx="381305" cy="3813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487375" y="381305"/>
            <a:ext cx="226314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시뮬레이션 결과</a:t>
            </a:r>
            <a:endParaRPr lang="en-US" sz="1000" dirty="0"/>
          </a:p>
        </p:txBody>
      </p:sp>
      <p:sp>
        <p:nvSpPr>
          <p:cNvPr id="19" name="Text 10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&amp; 전략 대응</a:t>
            </a:r>
            <a:endParaRPr lang="en-US" sz="2700" dirty="0"/>
          </a:p>
        </p:txBody>
      </p:sp>
      <p:sp>
        <p:nvSpPr>
          <p:cNvPr id="20" name="Text 11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시뮬레이션이 도출한 단기 방어와 중기 차별화 로드맵</a:t>
            </a:r>
            <a:endParaRPr lang="en-US" sz="1500" dirty="0"/>
          </a:p>
        </p:txBody>
      </p:sp>
      <p:sp>
        <p:nvSpPr>
          <p:cNvPr id="21" name="Text 12"/>
          <p:cNvSpPr txBox="1"/>
          <p:nvPr/>
        </p:nvSpPr>
        <p:spPr>
          <a:xfrm>
            <a:off x="2781605" y="1714500"/>
            <a:ext cx="10287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98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8210398" y="1714500"/>
            <a:ext cx="12198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2027–2028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2667305"/>
            <a:ext cx="5143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방어 전략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952805" y="3143707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강화 캠페인으로 품질 개선과 지속가능성 이니셔티브 전면화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952805" y="3417113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민감 세그먼트 대상의 선택적 프로모션 운영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952805" y="3691433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고성과 SKU와 카테고리 중심으로 제품 합리화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952805" y="3965753"/>
            <a:ext cx="4877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Circle 통합 강화로 충성도 혜택 체감도 제고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6476695" y="2667305"/>
            <a:ext cx="5143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차별화 전략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6667805" y="3143707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독특한 디자인 요소와 독점 소재를 통한 브랜드 차별화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6667805" y="3417113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가능한 환경 영향 감소를 통한 지속가능성 리더십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667805" y="3691433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디지털·물리 경험 연결하는 옴니채널 최적화 고도화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6667805" y="3965753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시장으로의 선택적 국제 확장 검토</a:t>
            </a:r>
            <a:endParaRPr lang="en-US" sz="12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61695" y="5695798"/>
            <a:ext cx="286207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43000" y="5572354"/>
            <a:ext cx="10363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핵심: China Plus One 전략</a:t>
            </a: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인도(직조 의류), 베트남(기술 직물), 태국(프리미엄 세그먼트), 니어쇼어(빠른 회전 품목)로 소싱 재배치하여 속도·유연성·예측력 동시 확보 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000707"/>
            <a:ext cx="5391302" cy="1524305"/>
          </a:xfrm>
          <a:prstGeom prst="roundRect">
            <a:avLst>
              <a:gd name="adj" fmla="val 2999"/>
            </a:avLst>
          </a:prstGeom>
          <a:solidFill>
            <a:srgbClr val="F9FAFB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00707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286500" y="2000707"/>
            <a:ext cx="5391302" cy="1524305"/>
          </a:xfrm>
          <a:prstGeom prst="roundRect">
            <a:avLst>
              <a:gd name="adj" fmla="val 2999"/>
            </a:avLst>
          </a:prstGeom>
          <a:solidFill>
            <a:srgbClr val="F9FAFB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286500" y="2000707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1500" y="3810305"/>
            <a:ext cx="5391302" cy="1524305"/>
          </a:xfrm>
          <a:prstGeom prst="roundRect">
            <a:avLst>
              <a:gd name="adj" fmla="val 2999"/>
            </a:avLst>
          </a:prstGeom>
          <a:solidFill>
            <a:srgbClr val="F9FAFB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71500" y="381030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86500" y="3810305"/>
            <a:ext cx="5391302" cy="1524305"/>
          </a:xfrm>
          <a:prstGeom prst="roundRect">
            <a:avLst>
              <a:gd name="adj" fmla="val 2999"/>
            </a:avLst>
          </a:prstGeom>
          <a:solidFill>
            <a:srgbClr val="F9FAFB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286500" y="3810305"/>
            <a:ext cx="57607" cy="1524305"/>
          </a:xfrm>
          <a:prstGeom prst="roundRect">
            <a:avLst>
              <a:gd name="adj" fmla="val 79365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71500" y="5619902"/>
            <a:ext cx="11087100" cy="47640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1500" y="5619902"/>
            <a:ext cx="38405" cy="47640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t="-399" b="-399"/>
          <a:stretch/>
        </p:blipFill>
        <p:spPr>
          <a:xfrm>
            <a:off x="0" y="0"/>
            <a:ext cx="10668305" cy="384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71500" y="381305"/>
            <a:ext cx="2190902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483718" y="381305"/>
            <a:ext cx="236646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시뮬레이션 결과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매트릭스와 대응</a:t>
            </a:r>
            <a:endParaRPr lang="en-US" sz="27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리스크는 가격-가치 관계를 약화시키는 방향으로 작동한다</a:t>
            </a:r>
            <a:endParaRPr lang="en-US" sz="15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2190902"/>
            <a:ext cx="304495" cy="3044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38098" y="2190902"/>
            <a:ext cx="400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가격 하락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2572207"/>
            <a:ext cx="49432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[위험]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공격적인 가격 경쟁이 가격 민감 고객을 더 빠르게 이탈시킬 수 있다 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238098" y="3000146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[대응]</a:t>
            </a: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 상황에 반응하는 동적 가격 책정 모델 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6695" y="2190902"/>
            <a:ext cx="304495" cy="3044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953098" y="2190902"/>
            <a:ext cx="400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 침체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6953098" y="2572207"/>
            <a:ext cx="49432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35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[위험]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재량 지출 감소로 의류 카테고리 전반의 볼륨 압박이 심해질 수 있다 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6953098" y="3000146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[대응]</a:t>
            </a: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지속적인 소비자 심리 모니터링과 세그먼트별 메시지 조정 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761695" y="4000500"/>
            <a:ext cx="381305" cy="3044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38098" y="4000500"/>
            <a:ext cx="400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중단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1238098" y="4381805"/>
            <a:ext cx="4655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35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[위험]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지정학적 긴장과 조달 리스크가 원가 및 납기 불확실성을 키운다 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1238098" y="4809744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[대응]</a:t>
            </a: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공급업체 관계 강화와 계약 보호 </a:t>
            </a:r>
            <a:endParaRPr lang="en-US" sz="10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6695" y="4000500"/>
            <a:ext cx="304495" cy="30449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953098" y="4000500"/>
            <a:ext cx="4000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인식 침식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6953098" y="4381805"/>
            <a:ext cx="4267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[위험]</a:t>
            </a: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고객이 가격-가치 관계를 납득하지 못하면 프리미엄 포지셔닝이 약화된다 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6953098" y="4809744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[대응]</a:t>
            </a: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애자일 제품 개발 및 빠른 메시지/제품 출시 프로세스 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761695" y="5619902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전략의 핵심 원칙: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동적 가격 모델, 공급업체 관계 강화, 소비자 심리 모니터링, 애자일 제품 출시 프로세스 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095805"/>
            <a:ext cx="5333695" cy="3047695"/>
          </a:xfrm>
          <a:prstGeom prst="roundRect">
            <a:avLst>
              <a:gd name="adj" fmla="val 150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286500" y="2095805"/>
            <a:ext cx="5333695" cy="3047695"/>
          </a:xfrm>
          <a:prstGeom prst="roundRect">
            <a:avLst>
              <a:gd name="adj" fmla="val 150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" y="5333695"/>
            <a:ext cx="11087100" cy="857707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71500" y="5333695"/>
            <a:ext cx="38405" cy="857707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0" y="0"/>
            <a:ext cx="11430000" cy="384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71500" y="381305"/>
            <a:ext cx="1143000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71500" y="2095805"/>
            <a:ext cx="5333695" cy="38130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286500" y="2095805"/>
            <a:ext cx="5333695" cy="38130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33095" y="381305"/>
            <a:ext cx="1219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마무리</a:t>
            </a:r>
            <a:endParaRPr lang="en-US" sz="10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정리 — 도구 평가와 활용 가능성</a:t>
            </a:r>
            <a:endParaRPr lang="en-US" sz="2700" dirty="0"/>
          </a:p>
        </p:txBody>
      </p:sp>
      <p:sp>
        <p:nvSpPr>
          <p:cNvPr id="17" name="Text 9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MiroFish 시뮬레이션 테스트를 통해 확인한 장점과 한계</a:t>
            </a:r>
            <a:endParaRPr lang="en-US" sz="15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1695" y="2186330"/>
            <a:ext cx="190195" cy="19019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095451" y="2095805"/>
            <a:ext cx="4810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952805" y="2619756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다관점 시나리오 탐색: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61개 에이전트가 각자의 역할과 논리로 동시에 반응하여, 단일 관점에서는 놓칠 수 있는 시각을 제공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952805" y="3133649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가설 검토: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전통적 시장조사 대비, 주제 입력만으로 수일 내 시뮬레이션 결과 도출 가능</a:t>
            </a:r>
            <a:endParaRPr lang="en-US" sz="1100" dirty="0"/>
          </a:p>
        </p:txBody>
      </p:sp>
      <p:sp>
        <p:nvSpPr>
          <p:cNvPr id="22" name="Text 13"/>
          <p:cNvSpPr txBox="1"/>
          <p:nvPr/>
        </p:nvSpPr>
        <p:spPr>
          <a:xfrm>
            <a:off x="952805" y="3648456"/>
            <a:ext cx="5420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보고서 생성: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인터뷰, 분석, 요약까지 자동화되어 별도 정리 작업 최소화</a:t>
            </a:r>
            <a:endParaRPr lang="en-US" sz="1100" dirty="0"/>
          </a:p>
        </p:txBody>
      </p:sp>
      <p:sp>
        <p:nvSpPr>
          <p:cNvPr id="23" name="Text 14"/>
          <p:cNvSpPr txBox="1"/>
          <p:nvPr/>
        </p:nvSpPr>
        <p:spPr>
          <a:xfrm>
            <a:off x="952805" y="3905402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없는 시나리오 테스트: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시장에 영향 없이 다양한 "what-if" 시나리오를 탐색 가능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6695" y="2186330"/>
            <a:ext cx="190195" cy="19019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810451" y="2095805"/>
            <a:ext cx="4810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및 유의점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6667805" y="2619756"/>
            <a:ext cx="4763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39C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 의존: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시드 데이터의 범위와 정확성이 결과 품질을 좌우</a:t>
            </a:r>
            <a:endParaRPr lang="en-US" sz="1100" dirty="0"/>
          </a:p>
        </p:txBody>
      </p:sp>
      <p:sp>
        <p:nvSpPr>
          <p:cNvPr id="27" name="Text 17"/>
          <p:cNvSpPr txBox="1"/>
          <p:nvPr/>
        </p:nvSpPr>
        <p:spPr>
          <a:xfrm>
            <a:off x="6667805" y="2876702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39C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검증 아님: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시뮬레이션 산출물로, 예측 정확도에 대한 과학적 검증은 부재</a:t>
            </a:r>
            <a:endParaRPr lang="en-US" sz="1100" dirty="0"/>
          </a:p>
        </p:txBody>
      </p:sp>
      <p:sp>
        <p:nvSpPr>
          <p:cNvPr id="28" name="Text 18"/>
          <p:cNvSpPr txBox="1"/>
          <p:nvPr/>
        </p:nvSpPr>
        <p:spPr>
          <a:xfrm>
            <a:off x="6667805" y="3390595"/>
            <a:ext cx="5420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39C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주의 필요: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결과를 절대적 예측이 아닌 '참고용 시나리오'로 활용해야 함</a:t>
            </a:r>
            <a:endParaRPr lang="en-US" sz="1100" dirty="0"/>
          </a:p>
        </p:txBody>
      </p:sp>
      <p:sp>
        <p:nvSpPr>
          <p:cNvPr id="29" name="Text 19"/>
          <p:cNvSpPr txBox="1"/>
          <p:nvPr/>
        </p:nvSpPr>
        <p:spPr>
          <a:xfrm>
            <a:off x="6667805" y="3648456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39C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전문가 보완: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결과만으로 의사결정하지 않고, 전문가 판단과 병행 필수</a:t>
            </a:r>
            <a:endParaRPr lang="en-US" sz="11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1695" y="5648249"/>
            <a:ext cx="228600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143000" y="5477256"/>
            <a:ext cx="10478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활용 가능 영역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1143000" y="5762549"/>
            <a:ext cx="9982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가격/프로모션 전략 A/B 시뮬레이션 </a:t>
            </a:r>
            <a:r>
              <a:rPr lang="en-US" sz="10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신제품 컨셉 소비자 반응 테스트 </a:t>
            </a:r>
            <a:r>
              <a:rPr lang="en-US" sz="10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위기 대응 메시지 사전 검토 </a:t>
            </a:r>
            <a:r>
              <a:rPr lang="en-US" sz="100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경쟁사 전략 변화 시나리오 탐색</a:t>
            </a:r>
            <a:endParaRPr lang="en-US" sz="10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의사결정 전 '가상 테스트'를 통한 리스크 감소 도구로 활용 가능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1619402"/>
            <a:ext cx="11048695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000707"/>
            <a:ext cx="11048695" cy="952805"/>
          </a:xfrm>
          <a:prstGeom prst="roundRect">
            <a:avLst>
              <a:gd name="adj" fmla="val 15355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3095244"/>
            <a:ext cx="11048695" cy="952805"/>
          </a:xfrm>
          <a:prstGeom prst="roundRect">
            <a:avLst>
              <a:gd name="adj" fmla="val 15355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71500" y="4190695"/>
            <a:ext cx="11048695" cy="857707"/>
          </a:xfrm>
          <a:prstGeom prst="roundRect">
            <a:avLst>
              <a:gd name="adj" fmla="val 18953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71500" y="5191049"/>
            <a:ext cx="11087100" cy="857707"/>
          </a:xfrm>
          <a:prstGeom prst="roundRect">
            <a:avLst>
              <a:gd name="adj" fmla="val 1895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1500" y="5191049"/>
            <a:ext cx="38405" cy="857707"/>
          </a:xfrm>
          <a:prstGeom prst="roundRect">
            <a:avLst>
              <a:gd name="adj" fmla="val 423278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571500" y="6286500"/>
            <a:ext cx="11048695" cy="914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0" y="0"/>
            <a:ext cx="12191695" cy="384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71500" y="381305"/>
            <a:ext cx="1143000" cy="304495"/>
          </a:xfrm>
          <a:prstGeom prst="roundRect">
            <a:avLst>
              <a:gd name="adj" fmla="val 75075"/>
            </a:avLst>
          </a:prstGeom>
          <a:solidFill>
            <a:srgbClr val="0033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761695" y="2190902"/>
            <a:ext cx="571500" cy="571500"/>
          </a:xfrm>
          <a:prstGeom prst="ellipse">
            <a:avLst/>
          </a:prstGeom>
          <a:solidFill>
            <a:srgbClr val="EB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761695" y="3286354"/>
            <a:ext cx="571500" cy="571500"/>
          </a:xfrm>
          <a:prstGeom prst="ellipse">
            <a:avLst/>
          </a:prstGeom>
          <a:solidFill>
            <a:srgbClr val="EB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761695" y="4334256"/>
            <a:ext cx="571500" cy="571500"/>
          </a:xfrm>
          <a:prstGeom prst="ellipse">
            <a:avLst/>
          </a:prstGeom>
          <a:solidFill>
            <a:srgbClr val="EB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761695" y="5333695"/>
            <a:ext cx="571500" cy="571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533095" y="381305"/>
            <a:ext cx="1219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마무리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761695"/>
            <a:ext cx="11354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— 참고 링크 및 출처</a:t>
            </a:r>
            <a:endParaRPr lang="en-US" sz="27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1333195"/>
            <a:ext cx="11239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보고서에서 사용된 도구와 원본 자료에 대한 접근 경로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14400" y="2343607"/>
            <a:ext cx="200254" cy="2670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24305" y="2143354"/>
            <a:ext cx="9715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보고서 원본 (HTML)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524305" y="2428646"/>
            <a:ext cx="9639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shinsungtongsangplanning.on.drv.tw/web_drt_html_hosting/1time/report_target_forecasting_simulation.html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524305" y="2667305"/>
            <a:ext cx="9715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MiroFish가 자동 생성한 전체 보고서. 가격 탄력성, 소비자 반응, 경쟁 구도, 공급망, 리스크 분석 포함.</a:t>
            </a:r>
            <a:endParaRPr lang="en-US" sz="10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rcRect l="-881" r="-881"/>
          <a:stretch/>
        </p:blipFill>
        <p:spPr>
          <a:xfrm>
            <a:off x="914400" y="3438144"/>
            <a:ext cx="237744" cy="2670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24305" y="3238805"/>
            <a:ext cx="9639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MiroFish GitHub 저장소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1524305" y="3524098"/>
            <a:ext cx="9639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33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github.com/666ghj/MiroFish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524305" y="3762756"/>
            <a:ext cx="9639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집단지능 AI 예측 엔진. GitHub Stars 33K+. 상하이 션다(Shanda) 후원.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rcRect l="-685" r="-685"/>
          <a:stretch/>
        </p:blipFill>
        <p:spPr>
          <a:xfrm>
            <a:off x="914400" y="4486046"/>
            <a:ext cx="304495" cy="2670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524305" y="4334256"/>
            <a:ext cx="9715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과정 캡처 이미지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524305" y="4638751"/>
            <a:ext cx="9639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보고서 Slide 7~9에 포함된 MiroFish 실행 화면 캡처. 환경 구축(지식 그래프), 에이전트 인터뷰 화면.</a:t>
            </a:r>
            <a:endParaRPr lang="en-US" sz="1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14400" y="5486400"/>
            <a:ext cx="267005" cy="2670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524305" y="5333695"/>
            <a:ext cx="9715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유의사항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1524305" y="5639105"/>
            <a:ext cx="9601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문서는 AI 시뮬레이션 결과를 공유하기 위한 읽기 전용 자료입니다. 시뮬레이션 산출물은 통계적으로 검증된 예측이 아니며, 의사결정의 참고 자료로만 활용해주시기 바랍니다.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571500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7696505" y="6429146"/>
            <a:ext cx="3924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PB Simulation Report | Page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2073</Words>
  <Application>Microsoft Office PowerPoint</Application>
  <PresentationFormat>와이드스크린</PresentationFormat>
  <Paragraphs>294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오 재석</cp:lastModifiedBy>
  <cp:revision>2</cp:revision>
  <dcterms:created xsi:type="dcterms:W3CDTF">2026-04-02T04:05:21Z</dcterms:created>
  <dcterms:modified xsi:type="dcterms:W3CDTF">2026-04-02T04:07:56Z</dcterms:modified>
</cp:coreProperties>
</file>